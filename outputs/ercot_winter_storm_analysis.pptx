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C8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ERCOT Winter Storm Outage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CDDEE"/>
                </a:solidFill>
              </a:rPr>
              <a:t>Utility exposure, financial impact, and a URI-like scenario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5321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EIA-861 Reliability   |   NOAA Storm Events   |   NOAA GHCN Daily   |   6 ERCOT Utilities · 2013–2024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Research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36576"/>
          </a:xfrm>
          <a:prstGeom prst="rect">
            <a:avLst/>
          </a:prstGeom>
          <a:solidFill>
            <a:srgbClr val="C8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3A5C"/>
                </a:solidFill>
              </a:rPr>
              <a:t>"How much can winter storm conditions in ERCOT help explain utility outages, and what do those outages imply for delivery-rate pressure and lost revenue risk?"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011680"/>
            <a:ext cx="5394960" cy="402336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</a:rPr>
              <a:t>Sub-questions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11111"/>
                </a:solidFill>
              </a:rPr>
              <a:t>  •  Which territories have the largest winter storm exposure?</a:t>
            </a:r>
          </a:p>
          <a:p>
            <a:pPr algn="l"/>
            <a:r>
              <a:rPr sz="1400">
                <a:solidFill>
                  <a:srgbClr val="111111"/>
                </a:solidFill>
              </a:rPr>
              <a:t>  •  How do outage metrics vary across utilities over time?</a:t>
            </a:r>
          </a:p>
          <a:p>
            <a:pPr algn="l"/>
            <a:r>
              <a:rPr sz="1400">
                <a:solidFill>
                  <a:srgbClr val="111111"/>
                </a:solidFill>
              </a:rPr>
              <a:t>  •  How much delivery revenue is at risk when outage duration rises?</a:t>
            </a:r>
          </a:p>
          <a:p>
            <a:pPr algn="l"/>
            <a:r>
              <a:rPr sz="1400">
                <a:solidFill>
                  <a:srgbClr val="111111"/>
                </a:solidFill>
              </a:rPr>
              <a:t>  •  What would a URI-like profile imply for 2024 conditions?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011680"/>
            <a:ext cx="5833872" cy="402336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21031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</a:rPr>
              <a:t>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514600"/>
            <a:ext cx="5577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11111"/>
                </a:solidFill>
              </a:rPr>
              <a:t>  •  Geography: ERCOT T&amp;D utilities in Texas</a:t>
            </a:r>
          </a:p>
          <a:p>
            <a:pPr algn="l"/>
            <a:r>
              <a:rPr sz="1400">
                <a:solidFill>
                  <a:srgbClr val="111111"/>
                </a:solidFill>
              </a:rPr>
              <a:t>  •  Storm exposure: 2000–2025</a:t>
            </a:r>
          </a:p>
          <a:p>
            <a:pPr algn="l"/>
            <a:r>
              <a:rPr sz="1400">
                <a:solidFill>
                  <a:srgbClr val="111111"/>
                </a:solidFill>
              </a:rPr>
              <a:t>  •  Outage metrics: 2013–2024 (EIA-861)</a:t>
            </a:r>
          </a:p>
          <a:p>
            <a:pPr algn="l"/>
            <a:r>
              <a:rPr sz="1400">
                <a:solidFill>
                  <a:srgbClr val="111111"/>
                </a:solidFill>
              </a:rPr>
              <a:t>  •  Revenue metrics: 2020–2024 (EIA-861)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Six ERCOT Delivery Utilities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36576"/>
          </a:xfrm>
          <a:prstGeom prst="rect">
            <a:avLst/>
          </a:prstGeom>
          <a:solidFill>
            <a:srgbClr val="C8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623560" cy="70539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5532120" cy="705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Utility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1005840"/>
            <a:ext cx="5623560" cy="70539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1024128"/>
            <a:ext cx="5532120" cy="705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Territory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11234"/>
            <a:ext cx="5623560" cy="705394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29522"/>
            <a:ext cx="5532120" cy="705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AEP Texas Central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711234"/>
            <a:ext cx="5623560" cy="705394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729522"/>
            <a:ext cx="5532120" cy="705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South Texas (Corpus Christi, Rio Grande Valley)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16628"/>
            <a:ext cx="5623560" cy="70539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434916"/>
            <a:ext cx="5532120" cy="705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AEP Texas North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2416628"/>
            <a:ext cx="5623560" cy="70539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2434916"/>
            <a:ext cx="5532120" cy="705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West &amp; Panhandle Texas (Abilene, Lubbock area)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22022"/>
            <a:ext cx="5623560" cy="705394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140310"/>
            <a:ext cx="5532120" cy="705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CenterPoint Energy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3122022"/>
            <a:ext cx="5623560" cy="705394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3140310"/>
            <a:ext cx="5532120" cy="705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Greater Houston metro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27416"/>
            <a:ext cx="5623560" cy="70539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845704"/>
            <a:ext cx="5532120" cy="705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Nueces Electric Coop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3827416"/>
            <a:ext cx="5623560" cy="70539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3845704"/>
            <a:ext cx="5532120" cy="705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Coastal Bend (Corpus Christi fringe)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532810"/>
            <a:ext cx="5623560" cy="705394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551098"/>
            <a:ext cx="5532120" cy="705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Oncor Electric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4532810"/>
            <a:ext cx="5623560" cy="705394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4551098"/>
            <a:ext cx="5532120" cy="705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North &amp; Central Texas (DFW, West Texas)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238204"/>
            <a:ext cx="5623560" cy="70539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256492"/>
            <a:ext cx="5532120" cy="705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Texas-New Mexico Power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0760" y="5238204"/>
            <a:ext cx="5623560" cy="70539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5256492"/>
            <a:ext cx="5532120" cy="705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Scattered suburban corridors statewide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649224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</a:rPr>
              <a:t>Together these utilities serve the majority of the ERCOT transmission and distribution footprint.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Data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36576"/>
          </a:xfrm>
          <a:prstGeom prst="rect">
            <a:avLst/>
          </a:prstGeom>
          <a:solidFill>
            <a:srgbClr val="C8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3657600" cy="50292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</a:rPr>
              <a:t>EIA Form 861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0020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11111"/>
                </a:solidFill>
              </a:rPr>
              <a:t>  •  Annual reliability schedules (SAIDI, SAIFI)</a:t>
            </a:r>
          </a:p>
          <a:p>
            <a:pPr algn="l"/>
            <a:r>
              <a:rPr sz="1300">
                <a:solidFill>
                  <a:srgbClr val="111111"/>
                </a:solidFill>
              </a:rPr>
              <a:t>  •  Service territory county mapping</a:t>
            </a:r>
          </a:p>
          <a:p>
            <a:pPr algn="l"/>
            <a:r>
              <a:rPr sz="1300">
                <a:solidFill>
                  <a:srgbClr val="111111"/>
                </a:solidFill>
              </a:rPr>
              <a:t>  •  Delivery revenue &amp; MWh sales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9392" y="1005840"/>
            <a:ext cx="3657600" cy="50292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16552" y="10972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</a:rPr>
              <a:t>NOAA Storm Events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0832" y="160020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11111"/>
                </a:solidFill>
              </a:rPr>
              <a:t>  •  County-level winter-season storm records</a:t>
            </a:r>
          </a:p>
          <a:p>
            <a:pPr algn="l"/>
            <a:r>
              <a:rPr sz="1300">
                <a:solidFill>
                  <a:srgbClr val="111111"/>
                </a:solidFill>
              </a:rPr>
              <a:t>  •  Property &amp; crop damage estimates</a:t>
            </a:r>
          </a:p>
          <a:p>
            <a:pPr algn="l"/>
            <a:r>
              <a:rPr sz="1300">
                <a:solidFill>
                  <a:srgbClr val="111111"/>
                </a:solidFill>
              </a:rPr>
              <a:t>  •  Direct deaths &amp; injuries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38744" y="1005840"/>
            <a:ext cx="3657600" cy="50292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75904" y="10972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</a:rPr>
              <a:t>NOAA GHCN Daily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0184" y="160020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11111"/>
                </a:solidFill>
              </a:rPr>
              <a:t>  •  One representative station per utility</a:t>
            </a:r>
          </a:p>
          <a:p>
            <a:pPr algn="l"/>
            <a:r>
              <a:rPr sz="1300">
                <a:solidFill>
                  <a:srgbClr val="111111"/>
                </a:solidFill>
              </a:rPr>
              <a:t>  •  Freeze days, sub-20°F days</a:t>
            </a:r>
          </a:p>
          <a:p>
            <a:pPr algn="l"/>
            <a:r>
              <a:rPr sz="1300">
                <a:solidFill>
                  <a:srgbClr val="111111"/>
                </a:solidFill>
              </a:rPr>
              <a:t>  •  Snowfall, precip, min temperature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649224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</a:rPr>
              <a:t>All raw extracts saved to data/raw/; merged outputs to data/processed/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36576"/>
          </a:xfrm>
          <a:prstGeom prst="rect">
            <a:avLst/>
          </a:prstGeom>
          <a:solidFill>
            <a:srgbClr val="C8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548640" cy="548640"/>
          </a:xfrm>
          <a:prstGeom prst="rect">
            <a:avLst/>
          </a:prstGeom>
          <a:solidFill>
            <a:srgbClr val="C8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515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00584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</a:rPr>
              <a:t>Build utility geography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53312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</a:rPr>
              <a:t>Map ERCOT delivery utilities to Texas counties via EIA service territory data.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103120"/>
            <a:ext cx="548640" cy="548640"/>
          </a:xfrm>
          <a:prstGeom prst="rect">
            <a:avLst/>
          </a:prstGeom>
          <a:solidFill>
            <a:srgbClr val="C8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1488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0312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</a:rPr>
              <a:t>Build storm &amp; weather exposure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50592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</a:rPr>
              <a:t>Aggregate NOAA winter storm events and daily weather severity to the utility-year level.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200400"/>
            <a:ext cx="548640" cy="548640"/>
          </a:xfrm>
          <a:prstGeom prst="rect">
            <a:avLst/>
          </a:prstGeom>
          <a:solidFill>
            <a:srgbClr val="C8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2461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0040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</a:rPr>
              <a:t>Join utility performance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547872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</a:rPr>
              <a:t>Merge annual outage metrics (EIA reliability) and delivery revenue (EIA delivery companies).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297680"/>
            <a:ext cx="548640" cy="548640"/>
          </a:xfrm>
          <a:prstGeom prst="rect">
            <a:avLst/>
          </a:prstGeom>
          <a:solidFill>
            <a:srgbClr val="C8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43434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29768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</a:rPr>
              <a:t>Fit exploratory outage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645152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</a:rPr>
              <a:t>Linear regression of SAIDI on winter severity and storm exposure features.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394960"/>
            <a:ext cx="548640" cy="548640"/>
          </a:xfrm>
          <a:prstGeom prst="rect">
            <a:avLst/>
          </a:prstGeom>
          <a:solidFill>
            <a:srgbClr val="C8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54406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3949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</a:rPr>
              <a:t>Simulate URI-like scenario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742432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</a:rPr>
              <a:t>Apply 2021 winter feature values to 2024 utility baselines to estimate incremental lost revenue.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Geographic Winter Storm Exposure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36576"/>
          </a:xfrm>
          <a:prstGeom prst="rect">
            <a:avLst/>
          </a:prstGeom>
          <a:solidFill>
            <a:srgbClr val="C8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rcot_county_winter_storm_chorople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11274552" cy="5349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9224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</a:rPr>
              <a:t>County-level cumulative NOAA winter storm event counts, 2000-2025. Darker = more events.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Utility Outage Trends (SAIDI with MED)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36576"/>
          </a:xfrm>
          <a:prstGeom prst="rect">
            <a:avLst/>
          </a:prstGeom>
          <a:solidFill>
            <a:srgbClr val="C8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rcot_utility_saidi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11274552" cy="5349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9224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</a:rPr>
              <a:t>SAIDI with Major Event Days. Spikes reflect large discrete events — notably Winter Storm Uri (2021) and Hurricane Beryl / summer storms (2024 CenterPoint &amp; TNMP).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Winter Storm Uri — 2021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36576"/>
          </a:xfrm>
          <a:prstGeom prst="rect">
            <a:avLst/>
          </a:prstGeom>
          <a:solidFill>
            <a:srgbClr val="C8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005840"/>
            <a:ext cx="3444240" cy="65314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024128"/>
            <a:ext cx="3352800" cy="653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Utility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358640" y="1005840"/>
            <a:ext cx="3444240" cy="65314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04360" y="1024128"/>
            <a:ext cx="3352800" cy="653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2021 SAIDI (min)</a:t>
            </a:r>
          </a:p>
        </p:txBody>
      </p:sp>
      <p:sp>
        <p:nvSpPr>
          <p:cNvPr id="9" name="Rectangle 8"/>
          <p:cNvSpPr/>
          <p:nvPr/>
        </p:nvSpPr>
        <p:spPr>
          <a:xfrm>
            <a:off x="7802880" y="1005840"/>
            <a:ext cx="3444240" cy="65314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48600" y="1024128"/>
            <a:ext cx="3352800" cy="653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Normal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1658982"/>
            <a:ext cx="3444240" cy="653142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677270"/>
            <a:ext cx="3352800" cy="653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CenterPoint Energy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58640" y="1658982"/>
            <a:ext cx="3444240" cy="653142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4360" y="1677270"/>
            <a:ext cx="3352800" cy="653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2,366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02880" y="1658982"/>
            <a:ext cx="3444240" cy="653142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8600" y="1677270"/>
            <a:ext cx="3352800" cy="653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~150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2312124"/>
            <a:ext cx="3444240" cy="6531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2330412"/>
            <a:ext cx="3352800" cy="653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AEP Texas Central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58640" y="2312124"/>
            <a:ext cx="3444240" cy="6531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04360" y="2330412"/>
            <a:ext cx="3352800" cy="653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1,901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02880" y="2312124"/>
            <a:ext cx="3444240" cy="6531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48600" y="2330412"/>
            <a:ext cx="3352800" cy="653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~170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2965266"/>
            <a:ext cx="3444240" cy="653142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2983554"/>
            <a:ext cx="3352800" cy="653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Nueces Electric Coop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58640" y="2965266"/>
            <a:ext cx="3444240" cy="653142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04360" y="2983554"/>
            <a:ext cx="3352800" cy="653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1,524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02880" y="2965266"/>
            <a:ext cx="3444240" cy="653142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48600" y="2983554"/>
            <a:ext cx="3352800" cy="653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~170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3618408"/>
            <a:ext cx="3444240" cy="6531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3636696"/>
            <a:ext cx="3352800" cy="653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AEP Texas North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58640" y="3618408"/>
            <a:ext cx="3444240" cy="6531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04360" y="3636696"/>
            <a:ext cx="3352800" cy="653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1,137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02880" y="3618408"/>
            <a:ext cx="3444240" cy="6531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8600" y="3636696"/>
            <a:ext cx="3352800" cy="653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~110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4271550"/>
            <a:ext cx="3444240" cy="653142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4289838"/>
            <a:ext cx="3352800" cy="653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Oncor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58640" y="4271550"/>
            <a:ext cx="3444240" cy="653142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04360" y="4289838"/>
            <a:ext cx="3352800" cy="653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  559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02880" y="4271550"/>
            <a:ext cx="3444240" cy="653142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48600" y="4289838"/>
            <a:ext cx="3352800" cy="653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~100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" y="4924692"/>
            <a:ext cx="3444240" cy="6531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0120" y="4942980"/>
            <a:ext cx="3352800" cy="653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Texas-New Mexico Power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58640" y="4924692"/>
            <a:ext cx="3444240" cy="6531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04360" y="4942980"/>
            <a:ext cx="3352800" cy="653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  204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02880" y="4924692"/>
            <a:ext cx="3444240" cy="6531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48600" y="4942980"/>
            <a:ext cx="3352800" cy="653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~105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" y="649224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</a:rPr>
              <a:t>Uri caused statewide generation failures in February 2021, producing sustained outages across nearly all utilities. Normal baseline is the approximate SAIDI-without-MED for each utility.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Delivery Revenue per MWh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36576"/>
          </a:xfrm>
          <a:prstGeom prst="rect">
            <a:avLst/>
          </a:prstGeom>
          <a:solidFill>
            <a:srgbClr val="C8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rcot_delivery_rate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11274552" cy="5349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9224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</a:rPr>
              <a:t>Delivery revenue ÷ MWh sales from EIA-861 Delivery Company schedules, 2020-2024.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Exploratory Outage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36576"/>
          </a:xfrm>
          <a:prstGeom prst="rect">
            <a:avLst/>
          </a:prstGeom>
          <a:solidFill>
            <a:srgbClr val="C8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5303520" cy="530352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</a:rPr>
              <a:t>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11111"/>
                </a:solidFill>
              </a:rPr>
              <a:t>  •  OLS linear regression</a:t>
            </a:r>
          </a:p>
          <a:p>
            <a:pPr algn="l"/>
            <a:r>
              <a:rPr sz="1400">
                <a:solidFill>
                  <a:srgbClr val="111111"/>
                </a:solidFill>
              </a:rPr>
              <a:t>  •  Dependent variable: SAIDI with MED</a:t>
            </a:r>
          </a:p>
          <a:p>
            <a:pPr algn="l"/>
            <a:r>
              <a:rPr sz="1400">
                <a:solidFill>
                  <a:srgbClr val="111111"/>
                </a:solidFill>
              </a:rPr>
              <a:t>  •  48 utility-year observations</a:t>
            </a:r>
          </a:p>
          <a:p>
            <a:pPr algn="l"/>
            <a:r>
              <a:rPr sz="1400">
                <a:solidFill>
                  <a:srgbClr val="111111"/>
                </a:solidFill>
              </a:rPr>
              <a:t>  •  8 winter severity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</a:rPr>
              <a:t>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862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11111"/>
                </a:solidFill>
              </a:rPr>
              <a:t>  •  In-sample R² = 0.184</a:t>
            </a:r>
          </a:p>
          <a:p>
            <a:pPr algn="l"/>
            <a:r>
              <a:rPr sz="1400">
                <a:solidFill>
                  <a:srgbClr val="111111"/>
                </a:solidFill>
              </a:rPr>
              <a:t>  •  In-sample MAE = 442 minutes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005840"/>
            <a:ext cx="5925312" cy="530352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0972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</a:rPr>
              <a:t>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150876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11111"/>
                </a:solidFill>
              </a:rPr>
              <a:t>  •  Winter event count</a:t>
            </a:r>
          </a:p>
          <a:p>
            <a:pPr algn="l"/>
            <a:r>
              <a:rPr sz="1400">
                <a:solidFill>
                  <a:srgbClr val="111111"/>
                </a:solidFill>
              </a:rPr>
              <a:t>  •  Storm property damage (USD)</a:t>
            </a:r>
          </a:p>
          <a:p>
            <a:pPr algn="l"/>
            <a:r>
              <a:rPr sz="1400">
                <a:solidFill>
                  <a:srgbClr val="111111"/>
                </a:solidFill>
              </a:rPr>
              <a:t>  •  Freeze days (≤32°F)</a:t>
            </a:r>
          </a:p>
          <a:p>
            <a:pPr algn="l"/>
            <a:r>
              <a:rPr sz="1400">
                <a:solidFill>
                  <a:srgbClr val="111111"/>
                </a:solidFill>
              </a:rPr>
              <a:t>  •  Sub-20°F days</a:t>
            </a:r>
          </a:p>
          <a:p>
            <a:pPr algn="l"/>
            <a:r>
              <a:rPr sz="1400">
                <a:solidFill>
                  <a:srgbClr val="111111"/>
                </a:solidFill>
              </a:rPr>
              <a:t>  •  Precipitation days</a:t>
            </a:r>
          </a:p>
          <a:p>
            <a:pPr algn="l"/>
            <a:r>
              <a:rPr sz="1400">
                <a:solidFill>
                  <a:srgbClr val="111111"/>
                </a:solidFill>
              </a:rPr>
              <a:t>  •  Snow days</a:t>
            </a:r>
          </a:p>
          <a:p>
            <a:pPr algn="l"/>
            <a:r>
              <a:rPr sz="1400">
                <a:solidFill>
                  <a:srgbClr val="111111"/>
                </a:solidFill>
              </a:rPr>
              <a:t>  •  Min temperature (°C)</a:t>
            </a:r>
          </a:p>
          <a:p>
            <a:pPr algn="l"/>
            <a:r>
              <a:rPr sz="1400">
                <a:solidFill>
                  <a:srgbClr val="111111"/>
                </a:solidFill>
              </a:rPr>
              <a:t>  •  Total precipitation (mm)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649224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</a:rPr>
              <a:t>Model is exploratory — the small panel and annual SAIDI metric limit causal claims.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Model Coefficients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36576"/>
          </a:xfrm>
          <a:prstGeom prst="rect">
            <a:avLst/>
          </a:prstGeom>
          <a:solidFill>
            <a:srgbClr val="C8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rcot_outage_model_coeffic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11274552" cy="5349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9224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</a:rPr>
              <a:t>Larger absolute coefficients indicate stronger model association with SAIDI. Interpret with caution given low R².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URI-like 2024 Scenario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36576"/>
          </a:xfrm>
          <a:prstGeom prst="rect">
            <a:avLst/>
          </a:prstGeom>
          <a:solidFill>
            <a:srgbClr val="C8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Apply 2021 winter severity feature values to 2024 utility baselines. Estimate incremental SAIDI and lost revenue.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2887218" cy="6792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89888"/>
            <a:ext cx="2795778" cy="679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Utility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7258" y="1371600"/>
            <a:ext cx="2887218" cy="6792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52978" y="1389888"/>
            <a:ext cx="2795778" cy="679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2024 SAIDI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4476" y="1371600"/>
            <a:ext cx="2887218" cy="6792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0196" y="1389888"/>
            <a:ext cx="2795778" cy="679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URI-like SAIDI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81694" y="1371600"/>
            <a:ext cx="2887218" cy="6792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27414" y="1389888"/>
            <a:ext cx="2795778" cy="679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Incremental Lost Revenue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050868"/>
            <a:ext cx="2887218" cy="679268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069156"/>
            <a:ext cx="2795778" cy="679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Oncor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7258" y="2050868"/>
            <a:ext cx="2887218" cy="679268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52978" y="2069156"/>
            <a:ext cx="2795778" cy="679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532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4476" y="2050868"/>
            <a:ext cx="2887218" cy="679268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0196" y="2069156"/>
            <a:ext cx="2795778" cy="679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685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1694" y="2050868"/>
            <a:ext cx="2887218" cy="679268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27414" y="2069156"/>
            <a:ext cx="2795778" cy="679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+$1,423,255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730136"/>
            <a:ext cx="2887218" cy="6792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2748424"/>
            <a:ext cx="2795778" cy="679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AEP Texas Central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7258" y="2730136"/>
            <a:ext cx="2887218" cy="6792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52978" y="2748424"/>
            <a:ext cx="2795778" cy="679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229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4476" y="2730136"/>
            <a:ext cx="2887218" cy="6792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40196" y="2748424"/>
            <a:ext cx="2795778" cy="679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265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81694" y="2730136"/>
            <a:ext cx="2887218" cy="6792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27414" y="2748424"/>
            <a:ext cx="2795778" cy="679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+$78,667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409404"/>
            <a:ext cx="2887218" cy="679268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3427692"/>
            <a:ext cx="2795778" cy="679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AEP Texas North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7258" y="3409404"/>
            <a:ext cx="2887218" cy="679268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52978" y="3427692"/>
            <a:ext cx="2795778" cy="679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108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94476" y="3409404"/>
            <a:ext cx="2887218" cy="679268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40196" y="3427692"/>
            <a:ext cx="2795778" cy="679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254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81694" y="3409404"/>
            <a:ext cx="2887218" cy="679268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27414" y="3427692"/>
            <a:ext cx="2795778" cy="679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+$64,943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088672"/>
            <a:ext cx="2887218" cy="6792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4106960"/>
            <a:ext cx="2795778" cy="679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Texas-NM Power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7258" y="4088672"/>
            <a:ext cx="2887218" cy="6792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52978" y="4106960"/>
            <a:ext cx="2795778" cy="679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1,946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94476" y="4088672"/>
            <a:ext cx="2887218" cy="6792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40196" y="4106960"/>
            <a:ext cx="2795778" cy="679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1,892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81694" y="4088672"/>
            <a:ext cx="2887218" cy="6792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27414" y="4106960"/>
            <a:ext cx="2795778" cy="679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−$42,413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4767940"/>
            <a:ext cx="2887218" cy="679268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4786228"/>
            <a:ext cx="2795778" cy="679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CenterPoint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7258" y="4767940"/>
            <a:ext cx="2887218" cy="679268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52978" y="4786228"/>
            <a:ext cx="2795778" cy="679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4,316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94476" y="4767940"/>
            <a:ext cx="2887218" cy="679268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40196" y="4786228"/>
            <a:ext cx="2795778" cy="679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4,100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81694" y="4767940"/>
            <a:ext cx="2887218" cy="679268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27414" y="4786228"/>
            <a:ext cx="2795778" cy="679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−$1,310,112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5447208"/>
            <a:ext cx="2887218" cy="6792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5465496"/>
            <a:ext cx="2795778" cy="679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Nueces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7258" y="5447208"/>
            <a:ext cx="2887218" cy="6792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52978" y="5465496"/>
            <a:ext cx="2795778" cy="679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437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94476" y="5447208"/>
            <a:ext cx="2887218" cy="6792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40196" y="5465496"/>
            <a:ext cx="2795778" cy="679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981694" y="5447208"/>
            <a:ext cx="2887218" cy="6792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27414" y="5465496"/>
            <a:ext cx="2795778" cy="679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11111"/>
                </a:solidFill>
              </a:rPr>
              <a:t>missing 2021 weather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0040" y="649224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</a:rPr>
              <a:t>CenterPoint and TNMP show negative incremental impact because their 2024 SAIDI (driven by Hurricane Beryl / summer storms) already exceeds what a URI-level winter would predict.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URI-like Incremental Lost Revenue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36576"/>
          </a:xfrm>
          <a:prstGeom prst="rect">
            <a:avLst/>
          </a:prstGeom>
          <a:solidFill>
            <a:srgbClr val="C8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rcot_uri_like_lost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11274552" cy="5349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9224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</a:rPr>
              <a:t>Incremental lost revenue = URI-like predicted lost revenue minus 2024 baseline lost revenue. Negative values indicate 2024 actual outages already exceed the URI-like prediction.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36576"/>
          </a:xfrm>
          <a:prstGeom prst="rect">
            <a:avLst/>
          </a:prstGeom>
          <a:solidFill>
            <a:srgbClr val="C8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5486400" cy="530352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</a:rPr>
              <a:t>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11111"/>
                </a:solidFill>
              </a:rPr>
              <a:t>  •  Annual SAIDI captures all outage causes — hurricanes and summer storms inflate "winter risk" metrics for some utilities</a:t>
            </a:r>
          </a:p>
          <a:p>
            <a:pPr algn="l"/>
            <a:r>
              <a:rPr sz="1300">
                <a:solidFill>
                  <a:srgbClr val="111111"/>
                </a:solidFill>
              </a:rPr>
              <a:t>  •  One weather station per utility is a coarse spatial proxy</a:t>
            </a:r>
          </a:p>
          <a:p>
            <a:pPr algn="l"/>
            <a:r>
              <a:rPr sz="1300">
                <a:solidFill>
                  <a:srgbClr val="111111"/>
                </a:solidFill>
              </a:rPr>
              <a:t>  •  NOAA Storm Events classification does not always align with ERCOT winter hazard definitions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005840"/>
            <a:ext cx="5742432" cy="530352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5087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11111"/>
                </a:solidFill>
              </a:rPr>
              <a:t>  •  Small panel (48 obs across 6 utilities)</a:t>
            </a:r>
          </a:p>
          <a:p>
            <a:pPr algn="l"/>
            <a:r>
              <a:rPr sz="1300">
                <a:solidFill>
                  <a:srgbClr val="111111"/>
                </a:solidFill>
              </a:rPr>
              <a:t>  •  Low R² (0.18) — winter features explain limited variance in annual SAIDI</a:t>
            </a:r>
          </a:p>
          <a:p>
            <a:pPr algn="l"/>
            <a:r>
              <a:rPr sz="1300">
                <a:solidFill>
                  <a:srgbClr val="111111"/>
                </a:solidFill>
              </a:rPr>
              <a:t>  •  OLS assumes linear, additive effects; no interaction terms</a:t>
            </a:r>
          </a:p>
          <a:p>
            <a:pPr algn="l"/>
            <a:r>
              <a:rPr sz="1300">
                <a:solidFill>
                  <a:srgbClr val="111111"/>
                </a:solidFill>
              </a:rPr>
              <a:t>  •  Not causal — confounders like infrastructure age are omitted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36576"/>
          </a:xfrm>
          <a:prstGeom prst="rect">
            <a:avLst/>
          </a:prstGeom>
          <a:solidFill>
            <a:srgbClr val="C8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11111"/>
                </a:solidFill>
              </a:rPr>
              <a:t>  •  Restrict outage metric to winter months only to remove summer storm contamination</a:t>
            </a:r>
          </a:p>
          <a:p>
            <a:pPr algn="l"/>
            <a:r>
              <a:rPr sz="1600">
                <a:solidFill>
                  <a:srgbClr val="111111"/>
                </a:solidFill>
              </a:rPr>
              <a:t>  •  Replace single-station weather proxy with a broader spatial weather surface</a:t>
            </a:r>
          </a:p>
          <a:p>
            <a:pPr algn="l"/>
            <a:r>
              <a:rPr sz="1600">
                <a:solidFill>
                  <a:srgbClr val="111111"/>
                </a:solidFill>
              </a:rPr>
              <a:t>  •  Add a richer outage/event source that ties more directly to utility-specific winter incidents</a:t>
            </a:r>
          </a:p>
          <a:p>
            <a:pPr algn="l"/>
            <a:r>
              <a:rPr sz="1600">
                <a:solidFill>
                  <a:srgbClr val="111111"/>
                </a:solidFill>
              </a:rPr>
              <a:t>  •  Test alternative model forms (fixed effects, log-SAIDI, nonlinear weather terms)</a:t>
            </a:r>
          </a:p>
          <a:p>
            <a:pPr algn="l"/>
            <a:r>
              <a:rPr sz="1600">
                <a:solidFill>
                  <a:srgbClr val="111111"/>
                </a:solidFill>
              </a:rPr>
              <a:t>  •  Tighten the financial model to reflect actual utility recovery and rate mechanisms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C8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ERCOT Winter Storm Outage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CDDEE"/>
                </a:solidFill>
              </a:rPr>
              <a:t>A reproducible analytical baseline combining
EIA-861, NOAA Storm Events, and NOAA GHCN Daily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scripts/download_data.py  ·  scripts/build_analysis.py  ·  data/processed/ercot_utility_winter_risk_panel.csv  ·  docs/analysis_summary.md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